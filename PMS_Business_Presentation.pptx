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5423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1A6B2E"/>
          </a:solidFill>
          <a:ln w="12700">
            <a:solidFill>
              <a:srgbClr val="1A6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182880"/>
            <a:ext cx="2011680" cy="2011680"/>
          </a:xfrm>
          <a:prstGeom prst="ellipse">
            <a:avLst/>
          </a:prstGeom>
          <a:solidFill>
            <a:srgbClr val="0D3318"/>
          </a:solidFill>
          <a:ln w="12700">
            <a:solidFill>
              <a:srgbClr val="0D33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206240"/>
            <a:ext cx="12192000" cy="932688"/>
          </a:xfrm>
          <a:prstGeom prst="rect">
            <a:avLst/>
          </a:prstGeom>
          <a:solidFill>
            <a:srgbClr val="0D331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6583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</a:t>
            </a:r>
            <a:endParaRPr lang="en-US" sz="4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(PMS)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Employee &amp; Branch Performance Tracking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digital platform for goal alignment, performance monitoring,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and data-driven decision making across all organizational levels.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Sector |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254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12192000" cy="292608"/>
          </a:xfrm>
          <a:prstGeom prst="rect">
            <a:avLst/>
          </a:prstGeom>
          <a:solidFill>
            <a:srgbClr val="0D331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 System (PMS)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347472" cy="347472"/>
          </a:xfrm>
          <a:prstGeom prst="ellipse">
            <a:avLst/>
          </a:prstGeom>
          <a:solidFill>
            <a:srgbClr val="125423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86384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76809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78638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PMS is and why it matters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188720"/>
            <a:ext cx="347472" cy="347472"/>
          </a:xfrm>
          <a:prstGeom prst="ellipse">
            <a:avLst/>
          </a:prstGeom>
          <a:solidFill>
            <a:srgbClr val="125423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22529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20700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Org Structure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122529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the system and how access is controlled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627632"/>
            <a:ext cx="347472" cy="347472"/>
          </a:xfrm>
          <a:prstGeom prst="ellipse">
            <a:avLst/>
          </a:prstGeom>
          <a:solidFill>
            <a:srgbClr val="125423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166420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164592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Setting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0" y="16642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and non-financial goal definition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066544"/>
            <a:ext cx="347472" cy="347472"/>
          </a:xfrm>
          <a:prstGeom prst="ellipse">
            <a:avLst/>
          </a:prstGeom>
          <a:solidFill>
            <a:srgbClr val="125423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10312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08483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&amp; Pillars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0" y="2103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alignment via OKR framework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505456"/>
            <a:ext cx="347472" cy="347472"/>
          </a:xfrm>
          <a:prstGeom prst="ellipse">
            <a:avLst/>
          </a:prstGeom>
          <a:solidFill>
            <a:srgbClr val="125423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542032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25237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0" y="25420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Dashboard &amp; Team Dashboard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944368"/>
            <a:ext cx="347472" cy="347472"/>
          </a:xfrm>
          <a:prstGeom prst="ellipse">
            <a:avLst/>
          </a:prstGeom>
          <a:solidFill>
            <a:srgbClr val="125423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980944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" y="296265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Scoring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0" y="298094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performance is assessed and scored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383280"/>
            <a:ext cx="347472" cy="347472"/>
          </a:xfrm>
          <a:prstGeom prst="ellipse">
            <a:avLst/>
          </a:prstGeom>
          <a:solidFill>
            <a:srgbClr val="125423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341985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" y="34015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Management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14800" y="341985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communication between managers and staff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822192"/>
            <a:ext cx="347472" cy="347472"/>
          </a:xfrm>
          <a:prstGeom prst="ellipse">
            <a:avLst/>
          </a:prstGeom>
          <a:solidFill>
            <a:srgbClr val="125423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385876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9808" y="384048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114800" y="38587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data-driven insights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4261104"/>
            <a:ext cx="347472" cy="347472"/>
          </a:xfrm>
          <a:prstGeom prst="ellipse">
            <a:avLst/>
          </a:prstGeom>
          <a:solidFill>
            <a:srgbClr val="125423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429768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9808" y="427939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114800" y="4297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delivered by PMS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254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– What is PMS?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12192000" cy="292608"/>
          </a:xfrm>
          <a:prstGeom prst="rect">
            <a:avLst/>
          </a:prstGeom>
          <a:solidFill>
            <a:srgbClr val="0D331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 System (PMS)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Performance Management System (PMS) is a digital platform built for the banking sector that enables the organization to: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8321040" cy="43891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Set, track, and manage financial and non-financial performance targets at every level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92808"/>
            <a:ext cx="83210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Monitor real-time progress of employees, branches, and districts against set goals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8321040" cy="43891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Align individual and team objectives with the bank's strategic pillars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898648"/>
            <a:ext cx="83210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Conduct structured performance evaluations with weighted scoring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401568"/>
            <a:ext cx="8321040" cy="43891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Enable continuous two-way feedback between supervisors and staff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904488"/>
            <a:ext cx="83210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Generate detailed, exportable reports for informed decision-making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4434840"/>
            <a:ext cx="8412480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1254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453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PMS connects individual employee performance to the bank's overall strategic goals through a fully digital, data-driven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254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PMS Performance Cycle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12192000" cy="292608"/>
          </a:xfrm>
          <a:prstGeom prst="rect">
            <a:avLst/>
          </a:prstGeom>
          <a:solidFill>
            <a:srgbClr val="0D331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 System (PMS)</a:t>
            </a:r>
            <a:endParaRPr lang="en-US" sz="900" dirty="0"/>
          </a:p>
        </p:txBody>
      </p:sp>
      <p:pic>
        <p:nvPicPr>
          <p:cNvPr id="6" name="Image 0" descr="C:\Users\Hmariam K\.gemini\antigravity-ide\brain\2130634a-e4f6-498b-9f7d-c154c933de28\pms_system_overview_178836950284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858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254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Organizational Access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12192000" cy="292608"/>
          </a:xfrm>
          <a:prstGeom prst="rect">
            <a:avLst/>
          </a:prstGeom>
          <a:solidFill>
            <a:srgbClr val="0D331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 System (PMS)</a:t>
            </a:r>
            <a:endParaRPr lang="en-US" sz="900" dirty="0"/>
          </a:p>
        </p:txBody>
      </p:sp>
      <p:pic>
        <p:nvPicPr>
          <p:cNvPr id="6" name="Image 0" descr="C:\Users\Hmariam K\.gemini\antigravity-ide\brain\2130634a-e4f6-498b-9f7d-c154c933de28\pms_user_roles_178836952405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85800"/>
            <a:ext cx="502920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7498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role-based: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0" y="1115568"/>
            <a:ext cx="3383280" cy="457200"/>
          </a:xfrm>
          <a:prstGeom prst="rect">
            <a:avLst>
              <a:gd name="adj" fmla="val 10000"/>
            </a:avLst>
          </a:prstGeom>
          <a:solidFill>
            <a:srgbClr val="125423"/>
          </a:solidFill>
          <a:ln w="12700">
            <a:solidFill>
              <a:srgbClr val="1254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7840" y="113385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77840" y="13350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configuration, user management, data upload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0" y="1627632"/>
            <a:ext cx="3383280" cy="457200"/>
          </a:xfrm>
          <a:prstGeom prst="rect">
            <a:avLst>
              <a:gd name="adj" fmla="val 10000"/>
            </a:avLst>
          </a:prstGeom>
          <a:solidFill>
            <a:srgbClr val="D1FAE5"/>
          </a:solidFill>
          <a:ln w="12700">
            <a:solidFill>
              <a:srgbClr val="1254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0" y="1645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CHF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577840" y="18470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Executive-level view of all performance metrics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0" y="2139696"/>
            <a:ext cx="3383280" cy="457200"/>
          </a:xfrm>
          <a:prstGeom prst="rect">
            <a:avLst>
              <a:gd name="adj" fmla="val 10000"/>
            </a:avLst>
          </a:prstGeom>
          <a:solidFill>
            <a:srgbClr val="D1FAE5"/>
          </a:solidFill>
          <a:ln w="12700">
            <a:solidFill>
              <a:srgbClr val="1254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7840" y="215798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/ Director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77840" y="23591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targets, team performance overview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86400" y="2651760"/>
            <a:ext cx="3383280" cy="457200"/>
          </a:xfrm>
          <a:prstGeom prst="rect">
            <a:avLst>
              <a:gd name="adj" fmla="val 10000"/>
            </a:avLst>
          </a:prstGeom>
          <a:solidFill>
            <a:srgbClr val="D1FAE5"/>
          </a:solidFill>
          <a:ln w="12700">
            <a:solidFill>
              <a:srgbClr val="12542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77840" y="26700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Manager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577840" y="287121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District-wide target tracking and team evaluation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486400" y="3163824"/>
            <a:ext cx="3383280" cy="457200"/>
          </a:xfrm>
          <a:prstGeom prst="rect">
            <a:avLst>
              <a:gd name="adj" fmla="val 10000"/>
            </a:avLst>
          </a:prstGeom>
          <a:solidFill>
            <a:srgbClr val="D1FAE5"/>
          </a:solidFill>
          <a:ln w="12700">
            <a:solidFill>
              <a:srgbClr val="12542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77840" y="31821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Manager/CRM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577840" y="33832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Branch-level goal setting, team scoring, and feedback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486400" y="3675888"/>
            <a:ext cx="3383280" cy="457200"/>
          </a:xfrm>
          <a:prstGeom prst="rect">
            <a:avLst>
              <a:gd name="adj" fmla="val 10000"/>
            </a:avLst>
          </a:prstGeom>
          <a:solidFill>
            <a:srgbClr val="D1FAE5"/>
          </a:solidFill>
          <a:ln w="12700">
            <a:solidFill>
              <a:srgbClr val="12542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77840" y="369417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577840" y="38953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dashboard, self-reporting, own score &amp; feedback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254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– Target Setting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12192000" cy="292608"/>
          </a:xfrm>
          <a:prstGeom prst="rect">
            <a:avLst/>
          </a:prstGeom>
          <a:solidFill>
            <a:srgbClr val="0D331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 System (PMS)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and supervisors define financial and non-financial targets for their teams and branches.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4114800" cy="713232"/>
          </a:xfrm>
          <a:prstGeom prst="rect">
            <a:avLst>
              <a:gd name="adj" fmla="val 7692"/>
            </a:avLst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081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Local Account Mapping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customer deposit accounts to employees/branches for performance tracking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4114800" cy="713232"/>
          </a:xfrm>
          <a:prstGeom prst="rect">
            <a:avLst>
              <a:gd name="adj" fmla="val 769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854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💱  FCY Account Mapping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4414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foreign currency account targets by employee or unit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07792"/>
            <a:ext cx="4114800" cy="713232"/>
          </a:xfrm>
          <a:prstGeom prst="rect">
            <a:avLst>
              <a:gd name="adj" fmla="val 7692"/>
            </a:avLst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626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FCY Generation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21868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foreign currency generation performance vs targets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685032"/>
            <a:ext cx="4114800" cy="713232"/>
          </a:xfrm>
          <a:prstGeom prst="rect">
            <a:avLst>
              <a:gd name="adj" fmla="val 769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398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🏧  Loan Account Mapping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99592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portfolio targets mapped to responsible employees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353312"/>
            <a:ext cx="4114800" cy="713232"/>
          </a:xfrm>
          <a:prstGeom prst="rect">
            <a:avLst>
              <a:gd name="adj" fmla="val 7692"/>
            </a:avLst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4081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District Mapping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166420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accounts and targets to district-level managers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130552"/>
            <a:ext cx="4114800" cy="713232"/>
          </a:xfrm>
          <a:prstGeom prst="rect">
            <a:avLst>
              <a:gd name="adj" fmla="val 769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1854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Financial Target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24414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deposit, loan, and FCY monetary targets per employee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907792"/>
            <a:ext cx="4114800" cy="713232"/>
          </a:xfrm>
          <a:prstGeom prst="rect">
            <a:avLst>
              <a:gd name="adj" fmla="val 7692"/>
            </a:avLst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9626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Non-Financial Target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321868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operational KPIs: new accounts, card activation, digital transactions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685032"/>
            <a:ext cx="4114800" cy="713232"/>
          </a:xfrm>
          <a:prstGeom prst="rect">
            <a:avLst>
              <a:gd name="adj" fmla="val 769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7398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Bulk Metric Upload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399592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bulk-upload performance data from CBS systems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254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– Strategic Pillars &amp; Performance Metrics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12192000" cy="292608"/>
          </a:xfrm>
          <a:prstGeom prst="rect">
            <a:avLst/>
          </a:prstGeom>
          <a:solidFill>
            <a:srgbClr val="0D331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 System (PMS)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uses an OKR-inspired framework to align every employee's work to the bank's strategic direction.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8412480" cy="960120"/>
          </a:xfrm>
          <a:prstGeom prst="rect">
            <a:avLst>
              <a:gd name="adj" fmla="val 7619"/>
            </a:avLst>
          </a:prstGeom>
          <a:solidFill>
            <a:srgbClr val="125423"/>
          </a:solidFill>
          <a:ln w="12700">
            <a:solidFill>
              <a:srgbClr val="1254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8988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Strategic Pillars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68249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themes that define the bank's strategic direction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Financial Growth, Customer Experience, Compliance)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2267712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5423"/>
                </a:solidFill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7863840" cy="960120"/>
          </a:xfrm>
          <a:prstGeom prst="rect">
            <a:avLst>
              <a:gd name="adj" fmla="val 7619"/>
            </a:avLst>
          </a:prstGeom>
          <a:solidFill>
            <a:srgbClr val="1A6B2E"/>
          </a:solidFill>
          <a:ln w="12700">
            <a:solidFill>
              <a:srgbClr val="1A6B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6888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measurable goals under each pillar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by title/grade with weighted importance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0" y="3346704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5423"/>
                </a:solidFill>
              </a:rPr>
              <a:t>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456432"/>
            <a:ext cx="7315200" cy="960120"/>
          </a:xfrm>
          <a:prstGeom prst="rect">
            <a:avLst>
              <a:gd name="adj" fmla="val 7619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54787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Performance Metrics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Quantifiable KPIs linked to each 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formula, unit, evaluation frequency, and weight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254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– Real-time Dashboards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12192000" cy="292608"/>
          </a:xfrm>
          <a:prstGeom prst="rect">
            <a:avLst/>
          </a:prstGeom>
          <a:solidFill>
            <a:srgbClr val="0D331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 System (PMS)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4160520" cy="457200"/>
          </a:xfrm>
          <a:prstGeom prst="rect">
            <a:avLst>
              <a:gd name="adj" fmla="val 14000"/>
            </a:avLst>
          </a:prstGeom>
          <a:solidFill>
            <a:srgbClr val="125423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8046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My Dashboard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4023360" cy="457200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Personal performance score (0–100%) visualized as a radial gauge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40233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1FAE5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Live actual vs. expected comparison for each metric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68296"/>
            <a:ext cx="4023360" cy="457200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Bar chart showing achievement across all KPIs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889504"/>
            <a:ext cx="40233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1FAE5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Pie chart distribution of performance by metric type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410712"/>
            <a:ext cx="4023360" cy="457200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Self-reported data entry for eligible metrics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931920"/>
            <a:ext cx="40233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1FAE5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Color-coded status: 🟢 On Track / 🟡 At Risk / 🔴 Below Target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749808"/>
            <a:ext cx="4160520" cy="457200"/>
          </a:xfrm>
          <a:prstGeom prst="rect">
            <a:avLst>
              <a:gd name="adj" fmla="val 14000"/>
            </a:avLst>
          </a:prstGeom>
          <a:solidFill>
            <a:srgbClr val="1A6B2E"/>
          </a:solidFill>
          <a:ln/>
        </p:spPr>
      </p:sp>
      <p:sp>
        <p:nvSpPr>
          <p:cNvPr id="15" name="Text 13"/>
          <p:cNvSpPr/>
          <p:nvPr/>
        </p:nvSpPr>
        <p:spPr>
          <a:xfrm>
            <a:off x="4773168" y="8046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Team Dashboard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325880"/>
            <a:ext cx="4023360" cy="457200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Manager's view of all direct and indirect reports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847088"/>
            <a:ext cx="40233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1FAE5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Each team member shown with their overall performance score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368296"/>
            <a:ext cx="4023360" cy="457200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Progress bars per metric for quick comparison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889504"/>
            <a:ext cx="40233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1FAE5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Priority status: highlights employees with missing priorities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410712"/>
            <a:ext cx="4023360" cy="457200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Sortable by position level (CEO → Individual)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3931920"/>
            <a:ext cx="40233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1FAE5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Drill-down into any employee's detailed metric breakdown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254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– Performance Evaluation &amp; Scoring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12192000" cy="292608"/>
          </a:xfrm>
          <a:prstGeom prst="rect">
            <a:avLst/>
          </a:prstGeom>
          <a:solidFill>
            <a:srgbClr val="0D331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 System (PMS)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periodic evaluation ensures accurate and fair performance assessment.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402336" cy="402336"/>
          </a:xfrm>
          <a:prstGeom prst="ellipse">
            <a:avLst/>
          </a:prstGeom>
          <a:solidFill>
            <a:srgbClr val="125423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389888"/>
            <a:ext cx="402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1243584"/>
            <a:ext cx="8046720" cy="594360"/>
          </a:xfrm>
          <a:prstGeom prst="rect">
            <a:avLst>
              <a:gd name="adj" fmla="val 9231"/>
            </a:avLst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2984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Evaluation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298448"/>
            <a:ext cx="5303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performance metric is evaluated with a recorded value. Evaluations are linked to the responsible evaluator.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029968"/>
            <a:ext cx="402336" cy="402336"/>
          </a:xfrm>
          <a:prstGeom prst="ellipse">
            <a:avLst/>
          </a:prstGeom>
          <a:solidFill>
            <a:srgbClr val="125423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066544"/>
            <a:ext cx="402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1920240"/>
            <a:ext cx="8046720" cy="59436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97510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Weight-Based Scoring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1975104"/>
            <a:ext cx="5303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carries a pre-defined weight. The final score is a weighted average across all active metrics.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706624"/>
            <a:ext cx="402336" cy="402336"/>
          </a:xfrm>
          <a:prstGeom prst="ellipse">
            <a:avLst/>
          </a:prstGeom>
          <a:solidFill>
            <a:srgbClr val="125423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743200"/>
            <a:ext cx="402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2596896"/>
            <a:ext cx="8046720" cy="594360"/>
          </a:xfrm>
          <a:prstGeom prst="rect">
            <a:avLst>
              <a:gd name="adj" fmla="val 9231"/>
            </a:avLst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265176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vs. Self Input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2651760"/>
            <a:ext cx="5303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metrics are auto-calculated from CBS data; others allow supervised self-reporting with evaluator confirmation.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383280"/>
            <a:ext cx="402336" cy="402336"/>
          </a:xfrm>
          <a:prstGeom prst="ellipse">
            <a:avLst/>
          </a:prstGeom>
          <a:solidFill>
            <a:srgbClr val="125423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419856"/>
            <a:ext cx="402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" y="3273552"/>
            <a:ext cx="8046720" cy="59436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32841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Score View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3328416"/>
            <a:ext cx="5303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view aggregated scores for all team members, enabling fair comparison and coaching decisions.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059936"/>
            <a:ext cx="402336" cy="402336"/>
          </a:xfrm>
          <a:prstGeom prst="ellipse">
            <a:avLst/>
          </a:prstGeom>
          <a:solidFill>
            <a:srgbClr val="125423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096512"/>
            <a:ext cx="402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22960" y="3950208"/>
            <a:ext cx="8046720" cy="594360"/>
          </a:xfrm>
          <a:prstGeom prst="rect">
            <a:avLst>
              <a:gd name="adj" fmla="val 9231"/>
            </a:avLst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400507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Score View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83280" y="4005072"/>
            <a:ext cx="5303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see their own weighted score, trend, and performance rating against targets.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254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– Feedback Management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12192000" cy="292608"/>
          </a:xfrm>
          <a:prstGeom prst="rect">
            <a:avLst/>
          </a:prstGeom>
          <a:solidFill>
            <a:srgbClr val="0D331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 System (PMS)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provides a structured, two-way communication channel between supervisors and their direct reports.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114800" cy="457200"/>
          </a:xfrm>
          <a:prstGeom prst="rect">
            <a:avLst>
              <a:gd name="adj" fmla="val 14000"/>
            </a:avLst>
          </a:prstGeom>
          <a:solidFill>
            <a:srgbClr val="12542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80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 Supervisor / Manager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92224"/>
            <a:ext cx="4023360" cy="438912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Sends feedback messages to team members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295144"/>
            <a:ext cx="40233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1FAE5"/>
            </a:solidFill>
          </a:ln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Views all feedback history per employee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798064"/>
            <a:ext cx="4023360" cy="438912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Replies to employee-initiated feedback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300984"/>
            <a:ext cx="40233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1FAE5"/>
            </a:solidFill>
          </a:ln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Provides coaching notes and performance context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234440"/>
            <a:ext cx="4114800" cy="457200"/>
          </a:xfrm>
          <a:prstGeom prst="rect">
            <a:avLst>
              <a:gd name="adj" fmla="val 14000"/>
            </a:avLst>
          </a:prstGeom>
          <a:solidFill>
            <a:srgbClr val="1A6B2E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280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Employee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1792224"/>
            <a:ext cx="4023360" cy="438912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Receives feedback notifications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295144"/>
            <a:ext cx="40233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1FAE5"/>
            </a:solidFill>
          </a:ln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Views all feedback received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798064"/>
            <a:ext cx="4023360" cy="438912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Sends replies and requests clarification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3300984"/>
            <a:ext cx="40233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1FAE5"/>
            </a:solidFill>
          </a:ln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Accesses historical feedback in My Feedback section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0" y="2560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25423"/>
                </a:solidFill>
              </a:rPr>
              <a:t>⇆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160520" y="31089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Two-way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Channel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254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– Reports &amp; Analytics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12192000" cy="292608"/>
          </a:xfrm>
          <a:prstGeom prst="rect">
            <a:avLst/>
          </a:prstGeom>
          <a:solidFill>
            <a:srgbClr val="0D331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 System (PMS)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offers a suite of management reports, all exportable to Excel, for monitoring and audit purposes.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4114800" cy="987552"/>
          </a:xfrm>
          <a:prstGeom prst="rect">
            <a:avLst>
              <a:gd name="adj" fmla="val 6481"/>
            </a:avLst>
          </a:prstGeom>
          <a:solidFill>
            <a:srgbClr val="D1FAE5"/>
          </a:solidFill>
          <a:ln w="12700">
            <a:solidFill>
              <a:srgbClr val="1254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350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User Targets Report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all financial and non-financial targets per user. Filterable by name, position, and period.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261872"/>
            <a:ext cx="4114800" cy="987552"/>
          </a:xfrm>
          <a:prstGeom prst="rect">
            <a:avLst>
              <a:gd name="adj" fmla="val 6481"/>
            </a:avLst>
          </a:prstGeom>
          <a:solidFill>
            <a:srgbClr val="D1FAE5"/>
          </a:solidFill>
          <a:ln w="12700">
            <a:solidFill>
              <a:srgbClr val="1254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3350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Account Mapping Report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66420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account-to-employee mappings by district. Exportable per district for audit and review.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359152"/>
            <a:ext cx="4114800" cy="987552"/>
          </a:xfrm>
          <a:prstGeom prst="rect">
            <a:avLst>
              <a:gd name="adj" fmla="val 6481"/>
            </a:avLst>
          </a:prstGeom>
          <a:solidFill>
            <a:srgbClr val="F0FDF4"/>
          </a:solidFill>
          <a:ln w="12700">
            <a:solidFill>
              <a:srgbClr val="1254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3230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Financial Achievement Report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76148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actual financial performance to targets (deposit, FCY, loan). Shows variance.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359152"/>
            <a:ext cx="4114800" cy="987552"/>
          </a:xfrm>
          <a:prstGeom prst="rect">
            <a:avLst>
              <a:gd name="adj" fmla="val 6481"/>
            </a:avLst>
          </a:prstGeom>
          <a:solidFill>
            <a:srgbClr val="F0FDF4"/>
          </a:solidFill>
          <a:ln w="12700">
            <a:solidFill>
              <a:srgbClr val="1254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43230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💱  FCY Deposit Report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76148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foreign currency deposit activity and achievement vs. targets by branch and employee.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456432"/>
            <a:ext cx="4114800" cy="987552"/>
          </a:xfrm>
          <a:prstGeom prst="rect">
            <a:avLst>
              <a:gd name="adj" fmla="val 6481"/>
            </a:avLst>
          </a:prstGeom>
          <a:solidFill>
            <a:srgbClr val="D1FAE5"/>
          </a:solidFill>
          <a:ln w="12700">
            <a:solidFill>
              <a:srgbClr val="1254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295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Evaluation Result Report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85876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End-of-period evaluation scores per employee. Shows metric-level details and weighted scores.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456432"/>
            <a:ext cx="4114800" cy="987552"/>
          </a:xfrm>
          <a:prstGeom prst="rect">
            <a:avLst>
              <a:gd name="adj" fmla="val 6481"/>
            </a:avLst>
          </a:prstGeom>
          <a:solidFill>
            <a:srgbClr val="D1FAE5"/>
          </a:solidFill>
          <a:ln w="12700">
            <a:solidFill>
              <a:srgbClr val="1254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5295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Raw Evaluation Report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85876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evaluation data for administrative use, supporting payroll and HR decisions.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254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Administration &amp; Configuration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12192000" cy="292608"/>
          </a:xfrm>
          <a:prstGeom prst="rect">
            <a:avLst/>
          </a:prstGeom>
          <a:solidFill>
            <a:srgbClr val="0D331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 System (PMS)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maintain full control over the system's structure, users, and data.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43584"/>
            <a:ext cx="4114800" cy="749808"/>
          </a:xfrm>
          <a:prstGeom prst="rect">
            <a:avLst>
              <a:gd name="adj" fmla="val 6098"/>
            </a:avLst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075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User Management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910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update, and deactivate user accounts. Assign roles, positions, organizations, and processes.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084832"/>
            <a:ext cx="4114800" cy="749808"/>
          </a:xfrm>
          <a:prstGeom prst="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48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User Transfer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4323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Seamlessly reassign employees between branches, districts, or teams without data loss.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4114800" cy="749808"/>
          </a:xfrm>
          <a:prstGeom prst="rect">
            <a:avLst>
              <a:gd name="adj" fmla="val 6098"/>
            </a:avLst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900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Employee Master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273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 employee master database synced with the bank's core HR systems.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767328"/>
            <a:ext cx="4114800" cy="749808"/>
          </a:xfrm>
          <a:prstGeom prst="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313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Hierarchy Configuration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organizational reporting hierarchy, processes, and sub-processes.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243584"/>
            <a:ext cx="4114800" cy="749808"/>
          </a:xfrm>
          <a:prstGeom prst="rect">
            <a:avLst>
              <a:gd name="adj" fmla="val 6098"/>
            </a:avLst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3075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General Configurations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15910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System-wide settings including fiscal year parameters, metric formulas, and thresholds.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084832"/>
            <a:ext cx="4114800" cy="749808"/>
          </a:xfrm>
          <a:prstGeom prst="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148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Area Manager Mapping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24323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area managers to their supervised branches and regions for accurate hierarchy-based reporting.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926080"/>
            <a:ext cx="4114800" cy="749808"/>
          </a:xfrm>
          <a:prstGeom prst="rect">
            <a:avLst>
              <a:gd name="adj" fmla="val 6098"/>
            </a:avLst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9900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Metric Upload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3273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Bulk-upload actual performance data (e.g., from CBS exports) to auto-populate metric actuals.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254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Metrics Tracked by PMS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12192000" cy="292608"/>
          </a:xfrm>
          <a:prstGeom prst="rect">
            <a:avLst/>
          </a:prstGeom>
          <a:solidFill>
            <a:srgbClr val="0D331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 System (PMS)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4114800" cy="402336"/>
          </a:xfrm>
          <a:prstGeom prst="rect">
            <a:avLst/>
          </a:prstGeom>
          <a:solidFill>
            <a:srgbClr val="12542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9552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Financial KPIs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225296"/>
            <a:ext cx="4114800" cy="475488"/>
          </a:xfrm>
          <a:prstGeom prst="rect">
            <a:avLst/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7101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Local Deposit Mobilization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77393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1965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Foreign Currency (FCY) Generation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322576"/>
            <a:ext cx="4114800" cy="475488"/>
          </a:xfrm>
          <a:prstGeom prst="rect">
            <a:avLst/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6829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Loan Portfolio Achievement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712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169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Cash Collection Performance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419856"/>
            <a:ext cx="4114800" cy="475488"/>
          </a:xfrm>
          <a:prstGeom prst="rect">
            <a:avLst/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6557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CRM / Michu Loan Collection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749808"/>
            <a:ext cx="4114800" cy="402336"/>
          </a:xfrm>
          <a:prstGeom prst="rect">
            <a:avLst/>
          </a:prstGeom>
          <a:solidFill>
            <a:srgbClr val="1A6B2E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79552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Non-Financial KPIs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1225296"/>
            <a:ext cx="411480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2618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New Account Opening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682496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7190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Active Card Users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139696"/>
            <a:ext cx="411480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1762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Digital Transaction Volume (ATM, Mobile)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596896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6334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Merchant &amp; Agent Recruitment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054096"/>
            <a:ext cx="411480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0906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EEU Transaction Activity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511296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5478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POS Deployment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968496"/>
            <a:ext cx="411480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40050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Compliance Rate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4425696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44622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Audit Report Quality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254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Benefits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12192000" cy="292608"/>
          </a:xfrm>
          <a:prstGeom prst="rect">
            <a:avLst/>
          </a:prstGeom>
          <a:solidFill>
            <a:srgbClr val="0D331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 System (PMS)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4114800" cy="896112"/>
          </a:xfrm>
          <a:prstGeom prst="rect">
            <a:avLst>
              <a:gd name="adj" fmla="val 7143"/>
            </a:avLst>
          </a:prstGeom>
          <a:solidFill>
            <a:srgbClr val="D1FAE5"/>
          </a:solidFill>
          <a:ln w="12700">
            <a:solidFill>
              <a:srgbClr val="1254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Strategic Alignment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15214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every employee's daily KPIs to the bank's strategic pillars and annual objectives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749808"/>
            <a:ext cx="4114800" cy="896112"/>
          </a:xfrm>
          <a:prstGeom prst="rect">
            <a:avLst>
              <a:gd name="adj" fmla="val 7143"/>
            </a:avLst>
          </a:prstGeom>
          <a:solidFill>
            <a:srgbClr val="D1FAE5"/>
          </a:solidFill>
          <a:ln w="12700">
            <a:solidFill>
              <a:srgbClr val="1254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822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Real-time Visibility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15214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and executives see live performance data without waiting for period-end reports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755648"/>
            <a:ext cx="4114800" cy="896112"/>
          </a:xfrm>
          <a:prstGeom prst="rect">
            <a:avLst>
              <a:gd name="adj" fmla="val 7143"/>
            </a:avLst>
          </a:prstGeom>
          <a:solidFill>
            <a:srgbClr val="F0FDF4"/>
          </a:solidFill>
          <a:ln w="12700">
            <a:solidFill>
              <a:srgbClr val="1254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28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Fair &amp; Transparent Scoring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15798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Weighted, formula-based scoring eliminates subjectivity and ensures evaluations are consistent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755648"/>
            <a:ext cx="4114800" cy="896112"/>
          </a:xfrm>
          <a:prstGeom prst="rect">
            <a:avLst>
              <a:gd name="adj" fmla="val 7143"/>
            </a:avLst>
          </a:prstGeom>
          <a:solidFill>
            <a:srgbClr val="F0FDF4"/>
          </a:solidFill>
          <a:ln w="12700">
            <a:solidFill>
              <a:srgbClr val="1254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828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Early Risk Detection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15798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dashboards flag underperforming employees or branches before year-end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761488"/>
            <a:ext cx="4114800" cy="896112"/>
          </a:xfrm>
          <a:prstGeom prst="rect">
            <a:avLst>
              <a:gd name="adj" fmla="val 7143"/>
            </a:avLst>
          </a:prstGeom>
          <a:solidFill>
            <a:srgbClr val="D1FAE5"/>
          </a:solidFill>
          <a:ln w="12700">
            <a:solidFill>
              <a:srgbClr val="1254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Continuous Feedback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16382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feedback loop improves manager-staff communication and employee development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761488"/>
            <a:ext cx="4114800" cy="896112"/>
          </a:xfrm>
          <a:prstGeom prst="rect">
            <a:avLst>
              <a:gd name="adj" fmla="val 7143"/>
            </a:avLst>
          </a:prstGeom>
          <a:solidFill>
            <a:srgbClr val="D1FAE5"/>
          </a:solidFill>
          <a:ln w="12700">
            <a:solidFill>
              <a:srgbClr val="1254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  Audit-ready Reporting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316382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exportable with full traceability, supporting HR, payroll, and compliance audits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767328"/>
            <a:ext cx="4114800" cy="896112"/>
          </a:xfrm>
          <a:prstGeom prst="rect">
            <a:avLst>
              <a:gd name="adj" fmla="val 7143"/>
            </a:avLst>
          </a:prstGeom>
          <a:solidFill>
            <a:srgbClr val="F0FDF4"/>
          </a:solidFill>
          <a:ln w="12700">
            <a:solidFill>
              <a:srgbClr val="1254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Role-based Security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16966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sees only the data relevant to their level, ensuring data privacy and confidentiality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767328"/>
            <a:ext cx="4114800" cy="896112"/>
          </a:xfrm>
          <a:prstGeom prst="rect">
            <a:avLst>
              <a:gd name="adj" fmla="val 7143"/>
            </a:avLst>
          </a:prstGeom>
          <a:solidFill>
            <a:srgbClr val="F0FDF4"/>
          </a:solidFill>
          <a:ln w="12700">
            <a:solidFill>
              <a:srgbClr val="1254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CBS Integration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416966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Auto-pulls actual performance data from the Core Banking System, reducing manual entry errors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54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D3318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1A6B2E"/>
          </a:solidFill>
          <a:ln w="12700">
            <a:solidFill>
              <a:srgbClr val="1A6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 System (PMS)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data-driven performance culture across every level of the bank.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2286000" cy="36576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2026-09-02T17:21:53Z</dcterms:created>
  <dcterms:modified xsi:type="dcterms:W3CDTF">2026-09-02T17:21:53Z</dcterms:modified>
</cp:coreProperties>
</file>